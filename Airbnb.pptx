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757575"/>
                </a:solidFill>
              </a:defRPr>
            </a:lvl1pPr>
            <a:lvl2pPr marL="0" indent="457200">
              <a:buSzTx/>
              <a:buFontTx/>
              <a:buNone/>
              <a:defRPr sz="2400">
                <a:solidFill>
                  <a:srgbClr val="757575"/>
                </a:solidFill>
              </a:defRPr>
            </a:lvl2pPr>
            <a:lvl3pPr marL="0" indent="914400">
              <a:buSzTx/>
              <a:buFontTx/>
              <a:buNone/>
              <a:defRPr sz="2400">
                <a:solidFill>
                  <a:srgbClr val="757575"/>
                </a:solidFill>
              </a:defRPr>
            </a:lvl3pPr>
            <a:lvl4pPr marL="0" indent="1371600">
              <a:buSzTx/>
              <a:buFontTx/>
              <a:buNone/>
              <a:defRPr sz="2400">
                <a:solidFill>
                  <a:srgbClr val="757575"/>
                </a:solidFill>
              </a:defRPr>
            </a:lvl4pPr>
            <a:lvl5pPr marL="0" indent="1828800">
              <a:buSzTx/>
              <a:buFontTx/>
              <a:buNone/>
              <a:defRPr sz="2400">
                <a:solidFill>
                  <a:srgbClr val="757575"/>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839787" y="365125"/>
            <a:ext cx="10515601" cy="1325563"/>
          </a:xfrm>
          <a:prstGeom prst="rect">
            <a:avLst/>
          </a:prstGeom>
        </p:spPr>
        <p:txBody>
          <a:bodyPr/>
          <a:lstStyle/>
          <a:p>
            <a:pPr/>
            <a:r>
              <a:t>Title Text</a:t>
            </a:r>
          </a:p>
        </p:txBody>
      </p:sp>
      <p:sp>
        <p:nvSpPr>
          <p:cNvPr id="48"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8"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Body Level One…"/>
          <p:cNvSpPr txBox="1"/>
          <p:nvPr>
            <p:ph type="body" sz="quarter" idx="1"/>
          </p:nvPr>
        </p:nvSpPr>
        <p:spPr>
          <a:xfrm>
            <a:off x="839787" y="2057400"/>
            <a:ext cx="3932239" cy="3811588"/>
          </a:xfrm>
          <a:prstGeom prst="rect">
            <a:avLst/>
          </a:prstGeom>
        </p:spPr>
        <p:txBody>
          <a:bodyPr/>
          <a:lstStyle>
            <a:lvl1pPr marL="0" indent="0">
              <a:buSzTx/>
              <a:buFontTx/>
              <a:buNone/>
              <a:defRPr sz="1700">
                <a:latin typeface="Times New Roman"/>
                <a:ea typeface="Times New Roman"/>
                <a:cs typeface="Times New Roman"/>
                <a:sym typeface="Times New Roman"/>
              </a:defRPr>
            </a:lvl1pPr>
            <a:lvl2pPr marL="0" indent="457200">
              <a:buSzTx/>
              <a:buFontTx/>
              <a:buNone/>
              <a:defRPr sz="1700">
                <a:latin typeface="Times New Roman"/>
                <a:ea typeface="Times New Roman"/>
                <a:cs typeface="Times New Roman"/>
                <a:sym typeface="Times New Roman"/>
              </a:defRPr>
            </a:lvl2pPr>
            <a:lvl3pPr marL="0" indent="914400">
              <a:buSzTx/>
              <a:buFontTx/>
              <a:buNone/>
              <a:defRPr sz="1700">
                <a:latin typeface="Times New Roman"/>
                <a:ea typeface="Times New Roman"/>
                <a:cs typeface="Times New Roman"/>
                <a:sym typeface="Times New Roman"/>
              </a:defRPr>
            </a:lvl3pPr>
            <a:lvl4pPr marL="0" indent="1371600">
              <a:buSzTx/>
              <a:buFontTx/>
              <a:buNone/>
              <a:defRPr sz="1700">
                <a:latin typeface="Times New Roman"/>
                <a:ea typeface="Times New Roman"/>
                <a:cs typeface="Times New Roman"/>
                <a:sym typeface="Times New Roman"/>
              </a:defRPr>
            </a:lvl4pPr>
            <a:lvl5pPr marL="0" indent="1828800">
              <a:buSzTx/>
              <a:buFontTx/>
              <a:buNone/>
              <a:defRPr sz="1700">
                <a:latin typeface="Times New Roman"/>
                <a:ea typeface="Times New Roman"/>
                <a:cs typeface="Times New Roman"/>
                <a:sym typeface="Times New Roman"/>
              </a:defRPr>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757575"/>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Aptos Display"/>
          <a:ea typeface="Aptos Display"/>
          <a:cs typeface="Aptos Display"/>
          <a:sym typeface="Aptos Display"/>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Aptos"/>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ptos"/>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jpeg"/><Relationship Id="rId5"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jpeg"/><Relationship Id="rId5" Type="http://schemas.openxmlformats.org/officeDocument/2006/relationships/image" Target="../media/image6.png"/><Relationship Id="rId6" Type="http://schemas.openxmlformats.org/officeDocument/2006/relationships/image" Target="../media/image5.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5.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5.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94" name="Picture 10" descr="Picture 10"/>
          <p:cNvPicPr>
            <a:picLocks noChangeAspect="1"/>
          </p:cNvPicPr>
          <p:nvPr/>
        </p:nvPicPr>
        <p:blipFill>
          <a:blip r:embed="rId2">
            <a:extLst/>
          </a:blip>
          <a:stretch>
            <a:fillRect/>
          </a:stretch>
        </p:blipFill>
        <p:spPr>
          <a:xfrm>
            <a:off x="0" y="12700"/>
            <a:ext cx="12192000" cy="6858000"/>
          </a:xfrm>
          <a:prstGeom prst="rect">
            <a:avLst/>
          </a:prstGeom>
          <a:ln w="12700">
            <a:miter lim="400000"/>
          </a:ln>
          <a:effectLst>
            <a:reflection blurRad="0" stA="21143" stPos="0" endA="0" endPos="40000" dist="0" dir="5400000" fadeDir="5400000" sx="100000" sy="-100000" kx="0" ky="0" algn="bl" rotWithShape="0"/>
          </a:effectLst>
        </p:spPr>
      </p:pic>
      <p:pic>
        <p:nvPicPr>
          <p:cNvPr id="95" name="Picture 17" descr="Picture 17"/>
          <p:cNvPicPr>
            <a:picLocks noChangeAspect="1"/>
          </p:cNvPicPr>
          <p:nvPr/>
        </p:nvPicPr>
        <p:blipFill>
          <a:blip r:embed="rId3">
            <a:extLst/>
          </a:blip>
          <a:srcRect l="0" t="0" r="6" b="0"/>
          <a:stretch>
            <a:fillRect/>
          </a:stretch>
        </p:blipFill>
        <p:spPr>
          <a:xfrm>
            <a:off x="192078" y="185367"/>
            <a:ext cx="600870" cy="6539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95" y="0"/>
                </a:moveTo>
                <a:cubicBezTo>
                  <a:pt x="1607" y="0"/>
                  <a:pt x="0" y="1476"/>
                  <a:pt x="0" y="3303"/>
                </a:cubicBezTo>
                <a:lnTo>
                  <a:pt x="0" y="18284"/>
                </a:lnTo>
                <a:cubicBezTo>
                  <a:pt x="0" y="20111"/>
                  <a:pt x="1607" y="21600"/>
                  <a:pt x="3595" y="21600"/>
                </a:cubicBezTo>
                <a:lnTo>
                  <a:pt x="18005" y="21600"/>
                </a:lnTo>
                <a:cubicBezTo>
                  <a:pt x="19993" y="21600"/>
                  <a:pt x="21600" y="20111"/>
                  <a:pt x="21600" y="18284"/>
                </a:cubicBezTo>
                <a:lnTo>
                  <a:pt x="21600" y="3303"/>
                </a:lnTo>
                <a:cubicBezTo>
                  <a:pt x="21600" y="1476"/>
                  <a:pt x="19993" y="0"/>
                  <a:pt x="18005" y="0"/>
                </a:cubicBezTo>
                <a:lnTo>
                  <a:pt x="3595" y="0"/>
                </a:lnTo>
                <a:close/>
              </a:path>
            </a:pathLst>
          </a:custGeom>
          <a:ln w="12700">
            <a:miter lim="400000"/>
          </a:ln>
          <a:effectLst>
            <a:outerShdw sx="100000" sy="100000" kx="0" ky="0" algn="b" rotWithShape="0" blurRad="76200" dist="38100" dir="7800000">
              <a:srgbClr val="000000">
                <a:alpha val="40000"/>
              </a:srgbClr>
            </a:outerShdw>
          </a:effectLst>
        </p:spPr>
      </p:pic>
      <p:sp>
        <p:nvSpPr>
          <p:cNvPr id="96" name="Presented by : Sarthak Omar…"/>
          <p:cNvSpPr txBox="1"/>
          <p:nvPr/>
        </p:nvSpPr>
        <p:spPr>
          <a:xfrm>
            <a:off x="5577002" y="6022267"/>
            <a:ext cx="7772471" cy="574041"/>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defRPr b="1" sz="3200">
                <a:ln w="6350" cap="flat">
                  <a:solidFill>
                    <a:srgbClr val="000000"/>
                  </a:solidFill>
                  <a:prstDash val="solid"/>
                  <a:miter lim="400000"/>
                </a:ln>
                <a:solidFill>
                  <a:schemeClr val="accent2">
                    <a:satOff val="-15952"/>
                    <a:lumOff val="-11098"/>
                  </a:schemeClr>
                </a:solidFill>
                <a:latin typeface="Georgia"/>
                <a:ea typeface="Georgia"/>
                <a:cs typeface="Georgia"/>
                <a:sym typeface="Georgia"/>
              </a:defRPr>
            </a:pPr>
            <a:r>
              <a:t>Presented by : Sarthak Omar</a:t>
            </a:r>
          </a:p>
          <a:p>
            <a:pPr>
              <a:defRPr b="1" sz="3200">
                <a:solidFill>
                  <a:schemeClr val="accent2">
                    <a:satOff val="-15952"/>
                    <a:lumOff val="-11098"/>
                  </a:schemeClr>
                </a:solidFill>
                <a:latin typeface="Georgia"/>
                <a:ea typeface="Georgia"/>
                <a:cs typeface="Georgia"/>
                <a:sym typeface="Georgia"/>
              </a:defRPr>
            </a:pPr>
            <a:r>
              <a:t> Omar</a:t>
            </a:r>
          </a:p>
        </p:txBody>
      </p:sp>
      <p:sp>
        <p:nvSpPr>
          <p:cNvPr id="97" name="Case Study of airbnb"/>
          <p:cNvSpPr txBox="1"/>
          <p:nvPr/>
        </p:nvSpPr>
        <p:spPr>
          <a:xfrm>
            <a:off x="1028921" y="231722"/>
            <a:ext cx="4405671" cy="548641"/>
          </a:xfrm>
          <a:prstGeom prst="rect">
            <a:avLst/>
          </a:prstGeom>
          <a:gradFill>
            <a:gsLst>
              <a:gs pos="0">
                <a:srgbClr val="DEB1B0"/>
              </a:gs>
              <a:gs pos="100000">
                <a:srgbClr val="E6B7B6"/>
              </a:gs>
            </a:gsLst>
            <a:lin ang="5400000"/>
          </a:gradFill>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90000"/>
              </a:lnSpc>
              <a:defRPr b="1" sz="3200">
                <a:ln w="9525" cap="flat">
                  <a:solidFill>
                    <a:srgbClr val="000000"/>
                  </a:solidFill>
                  <a:prstDash val="solid"/>
                  <a:miter lim="400000"/>
                </a:ln>
                <a:solidFill>
                  <a:srgbClr val="535353"/>
                </a:solidFill>
                <a:latin typeface="Georgia"/>
                <a:ea typeface="Georgia"/>
                <a:cs typeface="Georgia"/>
                <a:sym typeface="Georgia"/>
              </a:defRPr>
            </a:lvl1pPr>
          </a:lstStyle>
          <a:p>
            <a:pPr/>
            <a:r>
              <a:t>Case Study of airbnb</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99" name="Picture 3" descr="Picture 3"/>
          <p:cNvPicPr>
            <a:picLocks noChangeAspect="1"/>
          </p:cNvPicPr>
          <p:nvPr/>
        </p:nvPicPr>
        <p:blipFill>
          <a:blip r:embed="rId3">
            <a:extLst/>
          </a:blip>
          <a:srcRect l="2516" t="8248" r="0" b="22681"/>
          <a:stretch>
            <a:fillRect/>
          </a:stretch>
        </p:blipFill>
        <p:spPr>
          <a:xfrm>
            <a:off x="0" y="-1"/>
            <a:ext cx="12192000" cy="658763"/>
          </a:xfrm>
          <a:prstGeom prst="rect">
            <a:avLst/>
          </a:prstGeom>
          <a:ln w="12700">
            <a:miter lim="400000"/>
          </a:ln>
        </p:spPr>
      </p:pic>
      <p:sp>
        <p:nvSpPr>
          <p:cNvPr id="100" name="TextBox 6"/>
          <p:cNvSpPr txBox="1"/>
          <p:nvPr/>
        </p:nvSpPr>
        <p:spPr>
          <a:xfrm>
            <a:off x="-1" y="1359017"/>
            <a:ext cx="12192001" cy="370841"/>
          </a:xfrm>
          <a:prstGeom prst="rect">
            <a:avLst/>
          </a:prstGeom>
          <a:solidFill>
            <a:srgbClr val="F2F2F2"/>
          </a:solidFill>
          <a:ln w="12700">
            <a:miter lim="400000"/>
          </a:ln>
          <a:extLst>
            <a:ext uri="{C572A759-6A51-4108-AA02-DFA0A04FC94B}">
              <ma14:wrappingTextBoxFlag xmlns:ma14="http://schemas.microsoft.com/office/mac/drawingml/2011/main" val="1"/>
            </a:ext>
          </a:extLst>
        </p:spPr>
        <p:txBody>
          <a:bodyPr lIns="45719" rIns="45719"/>
          <a:lstStyle>
            <a:lvl1pPr algn="ctr">
              <a:defRPr b="1" u="sng">
                <a:solidFill>
                  <a:srgbClr val="FF0000"/>
                </a:solidFill>
                <a:latin typeface="Georgia"/>
                <a:ea typeface="Georgia"/>
                <a:cs typeface="Georgia"/>
                <a:sym typeface="Georgia"/>
              </a:defRPr>
            </a:lvl1pPr>
          </a:lstStyle>
          <a:p>
            <a:pPr/>
            <a:r>
              <a:t>About the company</a:t>
            </a:r>
          </a:p>
        </p:txBody>
      </p:sp>
      <p:sp>
        <p:nvSpPr>
          <p:cNvPr id="101" name="TextBox 8"/>
          <p:cNvSpPr txBox="1"/>
          <p:nvPr/>
        </p:nvSpPr>
        <p:spPr>
          <a:xfrm>
            <a:off x="3564320" y="2772680"/>
            <a:ext cx="8639606" cy="171337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sz="1700">
                <a:latin typeface="Times New Roman"/>
                <a:ea typeface="Times New Roman"/>
                <a:cs typeface="Times New Roman"/>
                <a:sym typeface="Times New Roman"/>
              </a:defRPr>
            </a:lvl1pPr>
          </a:lstStyle>
          <a:p>
            <a:pPr/>
            <a:r>
              <a:t>Airbnb is a global online platform launched in 2008 that connects hosts offering homes or spare rooms with travelers looking for short-term stays. Operating on a peer-to-peer model, it offers a wide range of accommodations—from private rooms to entire properties—along with user reviews, secure payments, and customer support. Airbnb earns through service fees charged to hosts and guests and has expanded into experiences and business travel. By prioritizing flexibility and personalized stays, it has reshaped how people think about accommodation and challenged the traditional hotel industry.</a:t>
            </a:r>
          </a:p>
        </p:txBody>
      </p:sp>
      <p:pic>
        <p:nvPicPr>
          <p:cNvPr id="102" name="0*gMNo1pAG3bJHZZlM.jpeg" descr="0*gMNo1pAG3bJHZZlM.jpeg"/>
          <p:cNvPicPr>
            <a:picLocks noChangeAspect="1"/>
          </p:cNvPicPr>
          <p:nvPr/>
        </p:nvPicPr>
        <p:blipFill>
          <a:blip r:embed="rId4">
            <a:extLst/>
          </a:blip>
          <a:srcRect l="5135" t="0" r="1" b="2"/>
          <a:stretch>
            <a:fillRect/>
          </a:stretch>
        </p:blipFill>
        <p:spPr>
          <a:xfrm>
            <a:off x="113301" y="2249481"/>
            <a:ext cx="3296444" cy="28146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74" y="0"/>
                </a:moveTo>
                <a:cubicBezTo>
                  <a:pt x="1376" y="0"/>
                  <a:pt x="0" y="1612"/>
                  <a:pt x="0" y="3600"/>
                </a:cubicBezTo>
                <a:lnTo>
                  <a:pt x="0" y="18000"/>
                </a:lnTo>
                <a:cubicBezTo>
                  <a:pt x="0" y="19988"/>
                  <a:pt x="1376" y="21600"/>
                  <a:pt x="3074" y="21600"/>
                </a:cubicBezTo>
                <a:lnTo>
                  <a:pt x="18526" y="21600"/>
                </a:lnTo>
                <a:cubicBezTo>
                  <a:pt x="20224" y="21600"/>
                  <a:pt x="21600" y="19988"/>
                  <a:pt x="21600" y="18000"/>
                </a:cubicBezTo>
                <a:lnTo>
                  <a:pt x="21600" y="3600"/>
                </a:lnTo>
                <a:cubicBezTo>
                  <a:pt x="21600" y="1612"/>
                  <a:pt x="20224" y="0"/>
                  <a:pt x="18526" y="0"/>
                </a:cubicBezTo>
                <a:lnTo>
                  <a:pt x="3074" y="0"/>
                </a:lnTo>
                <a:close/>
              </a:path>
            </a:pathLst>
          </a:custGeom>
          <a:ln w="12700">
            <a:miter lim="400000"/>
          </a:ln>
          <a:effectLst>
            <a:outerShdw sx="100000" sy="100000" kx="0" ky="0" algn="b" rotWithShape="0" blurRad="76200" dist="38100" dir="7800000">
              <a:srgbClr val="000000">
                <a:alpha val="40000"/>
              </a:srgbClr>
            </a:outerShdw>
          </a:effectLst>
        </p:spPr>
      </p:pic>
      <p:pic>
        <p:nvPicPr>
          <p:cNvPr id="103" name="Screenshot 2026-02-06 at 19.42.15.png" descr="Screenshot 2026-02-06 at 19.42.15.png"/>
          <p:cNvPicPr>
            <a:picLocks noChangeAspect="1"/>
          </p:cNvPicPr>
          <p:nvPr/>
        </p:nvPicPr>
        <p:blipFill>
          <a:blip r:embed="rId5">
            <a:extLst/>
          </a:blip>
          <a:stretch>
            <a:fillRect/>
          </a:stretch>
        </p:blipFill>
        <p:spPr>
          <a:xfrm>
            <a:off x="12700" y="-6908"/>
            <a:ext cx="12192001" cy="1407887"/>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05" name="Picture 3" descr="Picture 3"/>
          <p:cNvPicPr>
            <a:picLocks noChangeAspect="1"/>
          </p:cNvPicPr>
          <p:nvPr/>
        </p:nvPicPr>
        <p:blipFill>
          <a:blip r:embed="rId3">
            <a:extLst/>
          </a:blip>
          <a:srcRect l="2516" t="8248" r="0" b="22681"/>
          <a:stretch>
            <a:fillRect/>
          </a:stretch>
        </p:blipFill>
        <p:spPr>
          <a:xfrm>
            <a:off x="0" y="-1"/>
            <a:ext cx="12192000" cy="658763"/>
          </a:xfrm>
          <a:prstGeom prst="rect">
            <a:avLst/>
          </a:prstGeom>
          <a:ln w="12700">
            <a:miter lim="400000"/>
          </a:ln>
        </p:spPr>
      </p:pic>
      <p:sp>
        <p:nvSpPr>
          <p:cNvPr id="106" name="TextBox 4"/>
          <p:cNvSpPr txBox="1"/>
          <p:nvPr/>
        </p:nvSpPr>
        <p:spPr>
          <a:xfrm>
            <a:off x="0" y="1362287"/>
            <a:ext cx="12192000" cy="370841"/>
          </a:xfrm>
          <a:prstGeom prst="rect">
            <a:avLst/>
          </a:prstGeom>
          <a:solidFill>
            <a:srgbClr val="F2F2F2"/>
          </a:solidFill>
          <a:ln w="12700">
            <a:miter lim="400000"/>
          </a:ln>
        </p:spPr>
        <p:txBody>
          <a:bodyPr lIns="45719" rIns="45719"/>
          <a:lstStyle/>
          <a:p>
            <a:pPr>
              <a:defRPr b="1">
                <a:solidFill>
                  <a:srgbClr val="FF0000"/>
                </a:solidFill>
              </a:defRPr>
            </a:pPr>
          </a:p>
        </p:txBody>
      </p:sp>
      <p:sp>
        <p:nvSpPr>
          <p:cNvPr id="107" name="TextBox 5"/>
          <p:cNvSpPr txBox="1"/>
          <p:nvPr/>
        </p:nvSpPr>
        <p:spPr>
          <a:xfrm>
            <a:off x="4195819" y="2436602"/>
            <a:ext cx="7813697" cy="10248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sz="1700">
                <a:latin typeface="Times New Roman"/>
                <a:ea typeface="Times New Roman"/>
                <a:cs typeface="Times New Roman"/>
                <a:sym typeface="Times New Roman"/>
              </a:defRPr>
            </a:lvl1pPr>
          </a:lstStyle>
          <a:p>
            <a:pPr/>
            <a:r>
              <a:t>The dataset contains 102599 rows and 26 Columns, where the Columns have null values. To deal with them, I used 2 libraries, NumPy &amp; Pandas. I used NumPy for mathematical operations, Pandas for handling the Dataset, and Matplotlib-Pyplot and Seaborn for Data visualization.</a:t>
            </a:r>
          </a:p>
        </p:txBody>
      </p:sp>
      <p:sp>
        <p:nvSpPr>
          <p:cNvPr id="108" name="TextBox 6"/>
          <p:cNvSpPr txBox="1"/>
          <p:nvPr/>
        </p:nvSpPr>
        <p:spPr>
          <a:xfrm>
            <a:off x="0" y="4097516"/>
            <a:ext cx="12192001" cy="370841"/>
          </a:xfrm>
          <a:prstGeom prst="rect">
            <a:avLst/>
          </a:prstGeom>
          <a:solidFill>
            <a:srgbClr val="F2F2F2"/>
          </a:solidFill>
          <a:ln w="12700">
            <a:miter lim="400000"/>
          </a:ln>
          <a:extLst>
            <a:ext uri="{C572A759-6A51-4108-AA02-DFA0A04FC94B}">
              <ma14:wrappingTextBoxFlag xmlns:ma14="http://schemas.microsoft.com/office/mac/drawingml/2011/main" val="1"/>
            </a:ext>
          </a:extLst>
        </p:spPr>
        <p:txBody>
          <a:bodyPr lIns="45719" rIns="45719"/>
          <a:lstStyle>
            <a:lvl1pPr algn="ctr">
              <a:defRPr b="1" sz="1700" u="sng">
                <a:solidFill>
                  <a:srgbClr val="FF0000"/>
                </a:solidFill>
                <a:latin typeface="Georgia"/>
                <a:ea typeface="Georgia"/>
                <a:cs typeface="Georgia"/>
                <a:sym typeface="Georgia"/>
              </a:defRPr>
            </a:lvl1pPr>
          </a:lstStyle>
          <a:p>
            <a:pPr/>
            <a:r>
              <a:t>Insights Delivered</a:t>
            </a:r>
          </a:p>
        </p:txBody>
      </p:sp>
      <p:sp>
        <p:nvSpPr>
          <p:cNvPr id="109" name="TextBox 10"/>
          <p:cNvSpPr txBox="1"/>
          <p:nvPr/>
        </p:nvSpPr>
        <p:spPr>
          <a:xfrm>
            <a:off x="132436" y="4826501"/>
            <a:ext cx="6673154" cy="14058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54000" indent="-254000">
              <a:lnSpc>
                <a:spcPct val="90000"/>
              </a:lnSpc>
              <a:spcBef>
                <a:spcPts val="1000"/>
              </a:spcBef>
              <a:buSzPct val="100000"/>
              <a:buChar char="➢"/>
              <a:defRPr sz="1700">
                <a:latin typeface="Times New Roman"/>
                <a:ea typeface="Times New Roman"/>
                <a:cs typeface="Times New Roman"/>
                <a:sym typeface="Times New Roman"/>
              </a:defRPr>
            </a:pPr>
            <a:r>
              <a:t>What is the distribution of listing prices?</a:t>
            </a:r>
          </a:p>
          <a:p>
            <a:pPr marL="254000" indent="-254000">
              <a:lnSpc>
                <a:spcPct val="90000"/>
              </a:lnSpc>
              <a:spcBef>
                <a:spcPts val="1000"/>
              </a:spcBef>
              <a:buSzPct val="100000"/>
              <a:buChar char="➢"/>
              <a:defRPr sz="1700">
                <a:latin typeface="Times New Roman"/>
                <a:ea typeface="Times New Roman"/>
                <a:cs typeface="Times New Roman"/>
                <a:sym typeface="Times New Roman"/>
              </a:defRPr>
            </a:pPr>
            <a:r>
              <a:t>How are the different room types distributed?</a:t>
            </a:r>
          </a:p>
          <a:p>
            <a:pPr marL="254000" indent="-254000">
              <a:lnSpc>
                <a:spcPct val="90000"/>
              </a:lnSpc>
              <a:spcBef>
                <a:spcPts val="1000"/>
              </a:spcBef>
              <a:buSzPct val="100000"/>
              <a:buChar char="➢"/>
              <a:defRPr sz="1700">
                <a:latin typeface="Times New Roman"/>
                <a:ea typeface="Times New Roman"/>
                <a:cs typeface="Times New Roman"/>
                <a:sym typeface="Times New Roman"/>
              </a:defRPr>
            </a:pPr>
            <a:r>
              <a:t>How are listings distributed across different neighborhoods?</a:t>
            </a:r>
          </a:p>
          <a:p>
            <a:pPr marL="254000" indent="-254000">
              <a:lnSpc>
                <a:spcPct val="90000"/>
              </a:lnSpc>
              <a:spcBef>
                <a:spcPts val="1000"/>
              </a:spcBef>
              <a:buSzPct val="100000"/>
              <a:buChar char="➢"/>
              <a:defRPr sz="1700">
                <a:latin typeface="Times New Roman"/>
                <a:ea typeface="Times New Roman"/>
                <a:cs typeface="Times New Roman"/>
                <a:sym typeface="Times New Roman"/>
              </a:defRPr>
            </a:pPr>
            <a:r>
              <a:t>Relationship between price and room type</a:t>
            </a:r>
          </a:p>
        </p:txBody>
      </p:sp>
      <p:sp>
        <p:nvSpPr>
          <p:cNvPr id="110" name="Rectangle: Rounded Corners 11"/>
          <p:cNvSpPr/>
          <p:nvPr/>
        </p:nvSpPr>
        <p:spPr>
          <a:xfrm>
            <a:off x="8009497" y="4679605"/>
            <a:ext cx="3730019" cy="1889809"/>
          </a:xfrm>
          <a:prstGeom prst="roundRect">
            <a:avLst>
              <a:gd name="adj" fmla="val 9587"/>
            </a:avLst>
          </a:prstGeom>
          <a:blipFill>
            <a:blip r:embed="rId4"/>
            <a:stretch>
              <a:fillRect/>
            </a:stretch>
          </a:blipFill>
          <a:ln w="34925">
            <a:solidFill>
              <a:srgbClr val="FFFFFF"/>
            </a:solidFill>
            <a:miter/>
          </a:ln>
          <a:effectLst>
            <a:outerShdw sx="100000" sy="100000" kx="0" ky="0" algn="b" rotWithShape="0" blurRad="317500" dist="0" dir="2700000">
              <a:srgbClr val="000000">
                <a:alpha val="43000"/>
              </a:srgbClr>
            </a:outerShdw>
          </a:effectLst>
        </p:spPr>
        <p:txBody>
          <a:bodyPr lIns="45719" rIns="45719" anchor="ctr"/>
          <a:lstStyle/>
          <a:p>
            <a:pPr algn="ctr">
              <a:defRPr>
                <a:solidFill>
                  <a:srgbClr val="FFFFFF"/>
                </a:solidFill>
              </a:defRPr>
            </a:pPr>
          </a:p>
        </p:txBody>
      </p:sp>
      <p:pic>
        <p:nvPicPr>
          <p:cNvPr id="111" name="Picture 15" descr="Picture 15"/>
          <p:cNvPicPr>
            <a:picLocks noChangeAspect="0"/>
          </p:cNvPicPr>
          <p:nvPr/>
        </p:nvPicPr>
        <p:blipFill>
          <a:blip r:embed="rId5">
            <a:extLst/>
          </a:blip>
          <a:stretch>
            <a:fillRect/>
          </a:stretch>
        </p:blipFill>
        <p:spPr>
          <a:xfrm>
            <a:off x="261405" y="2123755"/>
            <a:ext cx="3380385" cy="16505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14" y="0"/>
                </a:moveTo>
                <a:cubicBezTo>
                  <a:pt x="768" y="0"/>
                  <a:pt x="0" y="1611"/>
                  <a:pt x="0" y="3599"/>
                </a:cubicBezTo>
                <a:lnTo>
                  <a:pt x="0" y="18001"/>
                </a:lnTo>
                <a:cubicBezTo>
                  <a:pt x="0" y="19989"/>
                  <a:pt x="768" y="21600"/>
                  <a:pt x="1714" y="21600"/>
                </a:cubicBezTo>
                <a:lnTo>
                  <a:pt x="19886" y="21600"/>
                </a:lnTo>
                <a:cubicBezTo>
                  <a:pt x="20832" y="21600"/>
                  <a:pt x="21600" y="19989"/>
                  <a:pt x="21600" y="18001"/>
                </a:cubicBezTo>
                <a:lnTo>
                  <a:pt x="21600" y="3599"/>
                </a:lnTo>
                <a:cubicBezTo>
                  <a:pt x="21600" y="1611"/>
                  <a:pt x="20832" y="0"/>
                  <a:pt x="19886" y="0"/>
                </a:cubicBezTo>
                <a:lnTo>
                  <a:pt x="1714" y="0"/>
                </a:lnTo>
                <a:close/>
              </a:path>
            </a:pathLst>
          </a:custGeom>
          <a:ln w="12700">
            <a:miter lim="400000"/>
          </a:ln>
          <a:effectLst>
            <a:outerShdw sx="100000" sy="100000" kx="0" ky="0" algn="b" rotWithShape="0" blurRad="152400" dist="12000" dir="900000">
              <a:srgbClr val="000000">
                <a:alpha val="30000"/>
              </a:srgbClr>
            </a:outerShdw>
          </a:effectLst>
        </p:spPr>
      </p:pic>
      <p:pic>
        <p:nvPicPr>
          <p:cNvPr id="112" name="Screenshot 2026-02-06 at 19.42.15.png" descr="Screenshot 2026-02-06 at 19.42.15.png"/>
          <p:cNvPicPr>
            <a:picLocks noChangeAspect="1"/>
          </p:cNvPicPr>
          <p:nvPr/>
        </p:nvPicPr>
        <p:blipFill>
          <a:blip r:embed="rId6">
            <a:extLst/>
          </a:blip>
          <a:stretch>
            <a:fillRect/>
          </a:stretch>
        </p:blipFill>
        <p:spPr>
          <a:xfrm>
            <a:off x="-1" y="-3398"/>
            <a:ext cx="12192001" cy="1407887"/>
          </a:xfrm>
          <a:prstGeom prst="rect">
            <a:avLst/>
          </a:prstGeom>
          <a:ln w="12700">
            <a:miter lim="400000"/>
          </a:ln>
        </p:spPr>
      </p:pic>
      <p:sp>
        <p:nvSpPr>
          <p:cNvPr id="113" name="About The Dataset"/>
          <p:cNvSpPr txBox="1"/>
          <p:nvPr/>
        </p:nvSpPr>
        <p:spPr>
          <a:xfrm>
            <a:off x="5161205" y="1413087"/>
            <a:ext cx="2267135" cy="358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u="sng">
                <a:solidFill>
                  <a:srgbClr val="FF0000"/>
                </a:solidFill>
                <a:latin typeface="Georgia"/>
                <a:ea typeface="Georgia"/>
                <a:cs typeface="Georgia"/>
                <a:sym typeface="Georgia"/>
              </a:defRPr>
            </a:lvl1pPr>
          </a:lstStyle>
          <a:p>
            <a:pPr/>
            <a:r>
              <a:t>About The Dataset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15" name="Picture 3" descr="Picture 3"/>
          <p:cNvPicPr>
            <a:picLocks noChangeAspect="1"/>
          </p:cNvPicPr>
          <p:nvPr/>
        </p:nvPicPr>
        <p:blipFill>
          <a:blip r:embed="rId3">
            <a:extLst/>
          </a:blip>
          <a:srcRect l="2516" t="8248" r="0" b="22681"/>
          <a:stretch>
            <a:fillRect/>
          </a:stretch>
        </p:blipFill>
        <p:spPr>
          <a:xfrm>
            <a:off x="0" y="0"/>
            <a:ext cx="12192000" cy="658762"/>
          </a:xfrm>
          <a:prstGeom prst="rect">
            <a:avLst/>
          </a:prstGeom>
          <a:ln w="12700">
            <a:miter lim="400000"/>
          </a:ln>
        </p:spPr>
      </p:pic>
      <p:pic>
        <p:nvPicPr>
          <p:cNvPr id="116" name="image11.png" descr="image11.png"/>
          <p:cNvPicPr>
            <a:picLocks noChangeAspect="0"/>
          </p:cNvPicPr>
          <p:nvPr/>
        </p:nvPicPr>
        <p:blipFill>
          <a:blip r:embed="rId4">
            <a:extLst/>
          </a:blip>
          <a:srcRect l="0" t="0" r="97" b="0"/>
          <a:stretch>
            <a:fillRect/>
          </a:stretch>
        </p:blipFill>
        <p:spPr>
          <a:xfrm>
            <a:off x="3189226" y="1892990"/>
            <a:ext cx="5813853" cy="3072222"/>
          </a:xfrm>
          <a:prstGeom prst="rect">
            <a:avLst/>
          </a:prstGeom>
          <a:ln w="12700">
            <a:miter lim="400000"/>
          </a:ln>
        </p:spPr>
      </p:pic>
      <p:sp>
        <p:nvSpPr>
          <p:cNvPr id="117" name="TextBox 8"/>
          <p:cNvSpPr txBox="1"/>
          <p:nvPr/>
        </p:nvSpPr>
        <p:spPr>
          <a:xfrm>
            <a:off x="-1" y="5206575"/>
            <a:ext cx="12192001" cy="1058828"/>
          </a:xfrm>
          <a:prstGeom prst="rect">
            <a:avLst/>
          </a:prstGeom>
          <a:solidFill>
            <a:srgbClr val="F2F2F2"/>
          </a:solidFill>
          <a:ln>
            <a:solidFill>
              <a:srgbClr val="F2F2F2"/>
            </a:solidFill>
          </a:ln>
          <a:extLst>
            <a:ext uri="{C572A759-6A51-4108-AA02-DFA0A04FC94B}">
              <ma14:wrappingTextBoxFlag xmlns:ma14="http://schemas.microsoft.com/office/mac/drawingml/2011/main" val="1"/>
            </a:ext>
          </a:extLst>
        </p:spPr>
        <p:txBody>
          <a:bodyPr lIns="45719" rIns="45719">
            <a:spAutoFit/>
          </a:bodyPr>
          <a:lstStyle/>
          <a:p>
            <a:pPr marL="170447" indent="-170447">
              <a:lnSpc>
                <a:spcPct val="90000"/>
              </a:lnSpc>
              <a:spcBef>
                <a:spcPts val="1000"/>
              </a:spcBef>
              <a:buSzPct val="100000"/>
              <a:buChar char="•"/>
              <a:defRPr sz="1700">
                <a:latin typeface="Times New Roman"/>
                <a:ea typeface="Times New Roman"/>
                <a:cs typeface="Times New Roman"/>
                <a:sym typeface="Times New Roman"/>
              </a:defRPr>
            </a:pPr>
            <a:r>
              <a:t>The price histogram shows the even distribution of listing price ranges across different prices. </a:t>
            </a:r>
          </a:p>
          <a:p>
            <a:pPr marL="170447" indent="-170447">
              <a:lnSpc>
                <a:spcPct val="90000"/>
              </a:lnSpc>
              <a:spcBef>
                <a:spcPts val="1000"/>
              </a:spcBef>
              <a:buSzPct val="100000"/>
              <a:buChar char="•"/>
              <a:defRPr sz="1700">
                <a:latin typeface="Times New Roman"/>
                <a:ea typeface="Times New Roman"/>
                <a:cs typeface="Times New Roman"/>
                <a:sym typeface="Times New Roman"/>
              </a:defRPr>
            </a:pPr>
            <a:r>
              <a:t>There is a specific consideration of listing price in any particular price range</a:t>
            </a:r>
          </a:p>
          <a:p>
            <a:pPr marL="170447" indent="-170447">
              <a:lnSpc>
                <a:spcPct val="90000"/>
              </a:lnSpc>
              <a:spcBef>
                <a:spcPts val="1000"/>
              </a:spcBef>
              <a:buSzPct val="100000"/>
              <a:buChar char="•"/>
              <a:defRPr sz="1700">
                <a:latin typeface="Times New Roman"/>
                <a:ea typeface="Times New Roman"/>
                <a:cs typeface="Times New Roman"/>
                <a:sym typeface="Times New Roman"/>
              </a:defRPr>
            </a:pPr>
            <a:r>
              <a:t>The KDE line helps us to visualize the graph more effectively</a:t>
            </a:r>
          </a:p>
        </p:txBody>
      </p:sp>
      <p:sp>
        <p:nvSpPr>
          <p:cNvPr id="118" name="TextBox 9"/>
          <p:cNvSpPr txBox="1"/>
          <p:nvPr/>
        </p:nvSpPr>
        <p:spPr>
          <a:xfrm>
            <a:off x="0" y="1397097"/>
            <a:ext cx="12192000" cy="370841"/>
          </a:xfrm>
          <a:prstGeom prst="rect">
            <a:avLst/>
          </a:prstGeom>
          <a:solidFill>
            <a:srgbClr val="F2F2F2"/>
          </a:solidFill>
          <a:ln w="12700">
            <a:miter lim="400000"/>
          </a:ln>
          <a:extLst>
            <a:ext uri="{C572A759-6A51-4108-AA02-DFA0A04FC94B}">
              <ma14:wrappingTextBoxFlag xmlns:ma14="http://schemas.microsoft.com/office/mac/drawingml/2011/main" val="1"/>
            </a:ext>
          </a:extLst>
        </p:spPr>
        <p:txBody>
          <a:bodyPr lIns="45719" rIns="45719"/>
          <a:lstStyle>
            <a:lvl1pPr algn="ctr">
              <a:defRPr b="1" u="sng">
                <a:solidFill>
                  <a:srgbClr val="FF0000"/>
                </a:solidFill>
                <a:latin typeface="Georgia"/>
                <a:ea typeface="Georgia"/>
                <a:cs typeface="Georgia"/>
                <a:sym typeface="Georgia"/>
              </a:defRPr>
            </a:lvl1pPr>
          </a:lstStyle>
          <a:p>
            <a:pPr/>
            <a:r>
              <a:t>What is the distribution of listing prices?</a:t>
            </a:r>
          </a:p>
        </p:txBody>
      </p:sp>
      <p:pic>
        <p:nvPicPr>
          <p:cNvPr id="119" name="Screenshot 2026-02-06 at 19.42.15.png" descr="Screenshot 2026-02-06 at 19.42.15.png"/>
          <p:cNvPicPr>
            <a:picLocks noChangeAspect="1"/>
          </p:cNvPicPr>
          <p:nvPr/>
        </p:nvPicPr>
        <p:blipFill>
          <a:blip r:embed="rId5">
            <a:extLst/>
          </a:blip>
          <a:stretch>
            <a:fillRect/>
          </a:stretch>
        </p:blipFill>
        <p:spPr>
          <a:xfrm>
            <a:off x="0" y="4021"/>
            <a:ext cx="12192000" cy="140788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4" presetID="2" grpId="1" fill="hold">
                                  <p:stCondLst>
                                    <p:cond delay="0"/>
                                  </p:stCondLst>
                                  <p:iterate type="el" backwards="0">
                                    <p:tmAbs val="0"/>
                                  </p:iterate>
                                  <p:childTnLst>
                                    <p:set>
                                      <p:cBhvr>
                                        <p:cTn id="6" fill="hold"/>
                                        <p:tgtEl>
                                          <p:spTgt spid="116"/>
                                        </p:tgtEl>
                                        <p:attrNameLst>
                                          <p:attrName>style.visibility</p:attrName>
                                        </p:attrNameLst>
                                      </p:cBhvr>
                                      <p:to>
                                        <p:strVal val="visible"/>
                                      </p:to>
                                    </p:set>
                                    <p:anim calcmode="lin" valueType="num">
                                      <p:cBhvr>
                                        <p:cTn id="7" dur="1000" fill="hold"/>
                                        <p:tgtEl>
                                          <p:spTgt spid="116"/>
                                        </p:tgtEl>
                                        <p:attrNameLst>
                                          <p:attrName>ppt_x</p:attrName>
                                        </p:attrNameLst>
                                      </p:cBhvr>
                                      <p:tavLst>
                                        <p:tav tm="0">
                                          <p:val>
                                            <p:strVal val="#ppt_x"/>
                                          </p:val>
                                        </p:tav>
                                        <p:tav tm="100000">
                                          <p:val>
                                            <p:strVal val="#ppt_x"/>
                                          </p:val>
                                        </p:tav>
                                      </p:tavLst>
                                    </p:anim>
                                    <p:anim calcmode="lin" valueType="num">
                                      <p:cBhvr>
                                        <p:cTn id="8" dur="1000" fill="hold"/>
                                        <p:tgtEl>
                                          <p:spTgt spid="1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6" grpId="1"/>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1" name="TextBox 4"/>
          <p:cNvSpPr txBox="1"/>
          <p:nvPr/>
        </p:nvSpPr>
        <p:spPr>
          <a:xfrm>
            <a:off x="13858" y="1384652"/>
            <a:ext cx="12192001" cy="370841"/>
          </a:xfrm>
          <a:prstGeom prst="rect">
            <a:avLst/>
          </a:prstGeom>
          <a:solidFill>
            <a:srgbClr val="F2F2F2"/>
          </a:solidFill>
          <a:ln w="12700">
            <a:miter lim="400000"/>
          </a:ln>
        </p:spPr>
        <p:txBody>
          <a:bodyPr lIns="45719" rIns="45719"/>
          <a:lstStyle/>
          <a:p>
            <a:pPr algn="ctr">
              <a:defRPr b="1">
                <a:solidFill>
                  <a:srgbClr val="FF0000"/>
                </a:solidFill>
              </a:defRPr>
            </a:pPr>
          </a:p>
        </p:txBody>
      </p:sp>
      <p:pic>
        <p:nvPicPr>
          <p:cNvPr id="122" name="Picture 5" descr="Picture 5"/>
          <p:cNvPicPr>
            <a:picLocks noChangeAspect="1"/>
          </p:cNvPicPr>
          <p:nvPr/>
        </p:nvPicPr>
        <p:blipFill>
          <a:blip r:embed="rId3">
            <a:extLst/>
          </a:blip>
          <a:srcRect l="2516" t="8248" r="0" b="22681"/>
          <a:stretch>
            <a:fillRect/>
          </a:stretch>
        </p:blipFill>
        <p:spPr>
          <a:xfrm>
            <a:off x="0" y="0"/>
            <a:ext cx="12192000" cy="658762"/>
          </a:xfrm>
          <a:prstGeom prst="rect">
            <a:avLst/>
          </a:prstGeom>
          <a:ln w="12700">
            <a:miter lim="400000"/>
          </a:ln>
        </p:spPr>
      </p:pic>
      <p:pic>
        <p:nvPicPr>
          <p:cNvPr id="123" name="Picture 7" descr="Picture 7"/>
          <p:cNvPicPr>
            <a:picLocks noChangeAspect="0"/>
          </p:cNvPicPr>
          <p:nvPr/>
        </p:nvPicPr>
        <p:blipFill>
          <a:blip r:embed="rId4">
            <a:extLst/>
          </a:blip>
          <a:stretch>
            <a:fillRect/>
          </a:stretch>
        </p:blipFill>
        <p:spPr>
          <a:xfrm>
            <a:off x="3125885" y="1949353"/>
            <a:ext cx="5940230" cy="3652877"/>
          </a:xfrm>
          <a:prstGeom prst="rect">
            <a:avLst/>
          </a:prstGeom>
          <a:ln w="12700">
            <a:miter lim="400000"/>
          </a:ln>
        </p:spPr>
      </p:pic>
      <p:sp>
        <p:nvSpPr>
          <p:cNvPr id="124" name="TextBox 8"/>
          <p:cNvSpPr txBox="1"/>
          <p:nvPr/>
        </p:nvSpPr>
        <p:spPr>
          <a:xfrm>
            <a:off x="0" y="5802441"/>
            <a:ext cx="12192001" cy="920469"/>
          </a:xfrm>
          <a:prstGeom prst="rect">
            <a:avLst/>
          </a:prstGeom>
          <a:solidFill>
            <a:srgbClr val="F2F2F2"/>
          </a:solidFill>
          <a:ln w="12700">
            <a:miter lim="400000"/>
          </a:ln>
          <a:extLst>
            <a:ext uri="{C572A759-6A51-4108-AA02-DFA0A04FC94B}">
              <ma14:wrappingTextBoxFlag xmlns:ma14="http://schemas.microsoft.com/office/mac/drawingml/2011/main" val="1"/>
            </a:ext>
          </a:extLst>
        </p:spPr>
        <p:txBody>
          <a:bodyPr lIns="45719" rIns="45719">
            <a:spAutoFit/>
          </a:bodyPr>
          <a:lstStyle/>
          <a:p>
            <a:pPr marL="170447" indent="-170447">
              <a:spcBef>
                <a:spcPts val="300"/>
              </a:spcBef>
              <a:buSzPct val="100000"/>
              <a:buChar char="•"/>
              <a:defRPr sz="1700">
                <a:latin typeface="Times New Roman"/>
                <a:ea typeface="Times New Roman"/>
                <a:cs typeface="Times New Roman"/>
                <a:sym typeface="Times New Roman"/>
              </a:defRPr>
            </a:pPr>
            <a:r>
              <a:t>According to the distribution, more people like to book an apartment room type. </a:t>
            </a:r>
          </a:p>
          <a:p>
            <a:pPr marL="170447" indent="-170447">
              <a:spcBef>
                <a:spcPts val="300"/>
              </a:spcBef>
              <a:buSzPct val="100000"/>
              <a:buChar char="•"/>
              <a:defRPr sz="1700">
                <a:latin typeface="Times New Roman"/>
                <a:ea typeface="Times New Roman"/>
                <a:cs typeface="Times New Roman"/>
                <a:sym typeface="Times New Roman"/>
              </a:defRPr>
            </a:pPr>
            <a:r>
              <a:t>And the second preference is a private room.</a:t>
            </a:r>
          </a:p>
          <a:p>
            <a:pPr marL="170447" indent="-170447">
              <a:spcBef>
                <a:spcPts val="300"/>
              </a:spcBef>
              <a:buSzPct val="100000"/>
              <a:buChar char="•"/>
              <a:defRPr sz="1700">
                <a:latin typeface="Times New Roman"/>
                <a:ea typeface="Times New Roman"/>
                <a:cs typeface="Times New Roman"/>
                <a:sym typeface="Times New Roman"/>
              </a:defRPr>
            </a:pPr>
            <a:r>
              <a:t>Shared rooms and hotel rooms are significantly less preferred.</a:t>
            </a:r>
          </a:p>
        </p:txBody>
      </p:sp>
      <p:pic>
        <p:nvPicPr>
          <p:cNvPr id="125" name="Screenshot 2026-02-06 at 19.42.15.png" descr="Screenshot 2026-02-06 at 19.42.15.png"/>
          <p:cNvPicPr>
            <a:picLocks noChangeAspect="1"/>
          </p:cNvPicPr>
          <p:nvPr/>
        </p:nvPicPr>
        <p:blipFill>
          <a:blip r:embed="rId5">
            <a:extLst/>
          </a:blip>
          <a:stretch>
            <a:fillRect/>
          </a:stretch>
        </p:blipFill>
        <p:spPr>
          <a:xfrm>
            <a:off x="-1" y="-8248"/>
            <a:ext cx="12192001" cy="1407886"/>
          </a:xfrm>
          <a:prstGeom prst="rect">
            <a:avLst/>
          </a:prstGeom>
          <a:ln w="12700">
            <a:miter lim="400000"/>
          </a:ln>
        </p:spPr>
      </p:pic>
      <p:sp>
        <p:nvSpPr>
          <p:cNvPr id="126" name="How are the different room types distributed?"/>
          <p:cNvSpPr txBox="1"/>
          <p:nvPr/>
        </p:nvSpPr>
        <p:spPr>
          <a:xfrm>
            <a:off x="3342141" y="1391002"/>
            <a:ext cx="5507718" cy="358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just">
              <a:defRPr b="1" u="sng">
                <a:solidFill>
                  <a:srgbClr val="FF0000"/>
                </a:solidFill>
                <a:latin typeface="Georgia"/>
                <a:ea typeface="Georgia"/>
                <a:cs typeface="Georgia"/>
                <a:sym typeface="Georgia"/>
              </a:defRPr>
            </a:lvl1pPr>
          </a:lstStyle>
          <a:p>
            <a:pPr/>
            <a:r>
              <a:t>How are the different room types distributed?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28" name="Picture 3" descr="Picture 3"/>
          <p:cNvPicPr>
            <a:picLocks noChangeAspect="1"/>
          </p:cNvPicPr>
          <p:nvPr/>
        </p:nvPicPr>
        <p:blipFill>
          <a:blip r:embed="rId3">
            <a:extLst/>
          </a:blip>
          <a:srcRect l="2516" t="8248" r="0" b="22681"/>
          <a:stretch>
            <a:fillRect/>
          </a:stretch>
        </p:blipFill>
        <p:spPr>
          <a:xfrm>
            <a:off x="0" y="-1"/>
            <a:ext cx="12192000" cy="658763"/>
          </a:xfrm>
          <a:prstGeom prst="rect">
            <a:avLst/>
          </a:prstGeom>
          <a:ln w="12700">
            <a:miter lim="400000"/>
          </a:ln>
        </p:spPr>
      </p:pic>
      <p:sp>
        <p:nvSpPr>
          <p:cNvPr id="129" name="TextBox 4"/>
          <p:cNvSpPr txBox="1"/>
          <p:nvPr/>
        </p:nvSpPr>
        <p:spPr>
          <a:xfrm>
            <a:off x="18706" y="1405095"/>
            <a:ext cx="12192001" cy="358141"/>
          </a:xfrm>
          <a:prstGeom prst="rect">
            <a:avLst/>
          </a:prstGeom>
          <a:solidFill>
            <a:srgbClr val="F2F2F2"/>
          </a:solidFill>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u="sng">
                <a:solidFill>
                  <a:srgbClr val="FF0000"/>
                </a:solidFill>
                <a:latin typeface="Georgia"/>
                <a:ea typeface="Georgia"/>
                <a:cs typeface="Georgia"/>
                <a:sym typeface="Georgia"/>
              </a:defRPr>
            </a:lvl1pPr>
          </a:lstStyle>
          <a:p>
            <a:pPr/>
            <a:r>
              <a:t>How are listings distributed across different neighborhoods?</a:t>
            </a:r>
          </a:p>
        </p:txBody>
      </p:sp>
      <p:sp>
        <p:nvSpPr>
          <p:cNvPr id="130" name="TextBox 8"/>
          <p:cNvSpPr txBox="1"/>
          <p:nvPr/>
        </p:nvSpPr>
        <p:spPr>
          <a:xfrm>
            <a:off x="-1" y="5853745"/>
            <a:ext cx="12192001" cy="565786"/>
          </a:xfrm>
          <a:prstGeom prst="rect">
            <a:avLst/>
          </a:prstGeom>
          <a:solidFill>
            <a:srgbClr val="F2F2F2"/>
          </a:solidFill>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sz="1700">
                <a:latin typeface="Times New Roman"/>
                <a:ea typeface="Times New Roman"/>
                <a:cs typeface="Times New Roman"/>
                <a:sym typeface="Times New Roman"/>
              </a:defRPr>
            </a:lvl1pPr>
          </a:lstStyle>
          <a:p>
            <a:pPr/>
            <a:r>
              <a:t>This horizontal bar chart shows the number of entries (or items) distributed across different neighborhoods in a city. Each bar represents a neighborhood, and the length of the bar shows how many times that neighborhood appears in the dataset.</a:t>
            </a:r>
          </a:p>
        </p:txBody>
      </p:sp>
      <p:pic>
        <p:nvPicPr>
          <p:cNvPr id="131" name="Picture 10" descr="Picture 10"/>
          <p:cNvPicPr>
            <a:picLocks noChangeAspect="0"/>
          </p:cNvPicPr>
          <p:nvPr/>
        </p:nvPicPr>
        <p:blipFill>
          <a:blip r:embed="rId4">
            <a:extLst/>
          </a:blip>
          <a:stretch>
            <a:fillRect/>
          </a:stretch>
        </p:blipFill>
        <p:spPr>
          <a:xfrm>
            <a:off x="3232477" y="1952335"/>
            <a:ext cx="5764459" cy="3712311"/>
          </a:xfrm>
          <a:prstGeom prst="rect">
            <a:avLst/>
          </a:prstGeom>
          <a:ln w="12700">
            <a:miter lim="400000"/>
          </a:ln>
        </p:spPr>
      </p:pic>
      <p:pic>
        <p:nvPicPr>
          <p:cNvPr id="132" name="Screenshot 2026-02-06 at 19.42.15.png" descr="Screenshot 2026-02-06 at 19.42.15.png"/>
          <p:cNvPicPr>
            <a:picLocks noChangeAspect="1"/>
          </p:cNvPicPr>
          <p:nvPr/>
        </p:nvPicPr>
        <p:blipFill>
          <a:blip r:embed="rId5">
            <a:extLst/>
          </a:blip>
          <a:stretch>
            <a:fillRect/>
          </a:stretch>
        </p:blipFill>
        <p:spPr>
          <a:xfrm>
            <a:off x="-12700" y="2863"/>
            <a:ext cx="12192001" cy="1407886"/>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pic>
        <p:nvPicPr>
          <p:cNvPr id="134" name="Picture 5" descr="Picture 5"/>
          <p:cNvPicPr>
            <a:picLocks noChangeAspect="1"/>
          </p:cNvPicPr>
          <p:nvPr/>
        </p:nvPicPr>
        <p:blipFill>
          <a:blip r:embed="rId3">
            <a:extLst/>
          </a:blip>
          <a:srcRect l="2516" t="8248" r="0" b="22681"/>
          <a:stretch>
            <a:fillRect/>
          </a:stretch>
        </p:blipFill>
        <p:spPr>
          <a:xfrm>
            <a:off x="0" y="-1"/>
            <a:ext cx="12192000" cy="658763"/>
          </a:xfrm>
          <a:prstGeom prst="rect">
            <a:avLst/>
          </a:prstGeom>
          <a:ln w="12700">
            <a:miter lim="400000"/>
          </a:ln>
        </p:spPr>
      </p:pic>
      <p:sp>
        <p:nvSpPr>
          <p:cNvPr id="135" name="TextBox 6"/>
          <p:cNvSpPr txBox="1"/>
          <p:nvPr/>
        </p:nvSpPr>
        <p:spPr>
          <a:xfrm>
            <a:off x="0" y="1400362"/>
            <a:ext cx="12192001" cy="358141"/>
          </a:xfrm>
          <a:prstGeom prst="rect">
            <a:avLst/>
          </a:prstGeom>
          <a:solidFill>
            <a:srgbClr val="F2F2F2"/>
          </a:solidFill>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u="sng">
                <a:solidFill>
                  <a:srgbClr val="FF0000"/>
                </a:solidFill>
                <a:latin typeface="Georgia"/>
                <a:ea typeface="Georgia"/>
                <a:cs typeface="Georgia"/>
                <a:sym typeface="Georgia"/>
              </a:defRPr>
            </a:lvl1pPr>
          </a:lstStyle>
          <a:p>
            <a:pPr/>
            <a:r>
              <a:t>Relationship between price and room type?</a:t>
            </a:r>
          </a:p>
        </p:txBody>
      </p:sp>
      <p:pic>
        <p:nvPicPr>
          <p:cNvPr id="136" name="Picture 9" descr="Picture 9"/>
          <p:cNvPicPr>
            <a:picLocks noChangeAspect="0"/>
          </p:cNvPicPr>
          <p:nvPr/>
        </p:nvPicPr>
        <p:blipFill>
          <a:blip r:embed="rId4">
            <a:extLst/>
          </a:blip>
          <a:stretch>
            <a:fillRect/>
          </a:stretch>
        </p:blipFill>
        <p:spPr>
          <a:xfrm>
            <a:off x="3796946" y="1861502"/>
            <a:ext cx="4598108" cy="2925433"/>
          </a:xfrm>
          <a:prstGeom prst="rect">
            <a:avLst/>
          </a:prstGeom>
          <a:ln w="12700">
            <a:miter lim="400000"/>
          </a:ln>
        </p:spPr>
      </p:pic>
      <p:sp>
        <p:nvSpPr>
          <p:cNvPr id="137" name="TextBox 10"/>
          <p:cNvSpPr txBox="1"/>
          <p:nvPr/>
        </p:nvSpPr>
        <p:spPr>
          <a:xfrm>
            <a:off x="39328" y="4889933"/>
            <a:ext cx="12113344" cy="1174469"/>
          </a:xfrm>
          <a:prstGeom prst="rect">
            <a:avLst/>
          </a:prstGeom>
          <a:solidFill>
            <a:srgbClr val="F2F2F2"/>
          </a:solidFill>
          <a:ln w="12700">
            <a:miter lim="400000"/>
          </a:ln>
          <a:extLst>
            <a:ext uri="{C572A759-6A51-4108-AA02-DFA0A04FC94B}">
              <ma14:wrappingTextBoxFlag xmlns:ma14="http://schemas.microsoft.com/office/mac/drawingml/2011/main" val="1"/>
            </a:ext>
          </a:extLst>
        </p:spPr>
        <p:txBody>
          <a:bodyPr lIns="45719" rIns="45719">
            <a:spAutoFit/>
          </a:bodyPr>
          <a:lstStyle/>
          <a:p>
            <a:pPr marL="170447" indent="-170447">
              <a:spcBef>
                <a:spcPts val="300"/>
              </a:spcBef>
              <a:buSzPct val="100000"/>
              <a:buChar char="•"/>
              <a:defRPr sz="1700">
                <a:latin typeface="Times New Roman"/>
                <a:ea typeface="Times New Roman"/>
                <a:cs typeface="Times New Roman"/>
                <a:sym typeface="Times New Roman"/>
              </a:defRPr>
            </a:pPr>
            <a:r>
              <a:t>All room types have a </a:t>
            </a:r>
            <a:r>
              <a:rPr b="1"/>
              <a:t>broad price distribution</a:t>
            </a:r>
            <a:r>
              <a:t>, roughly from $50 to $1200</a:t>
            </a:r>
          </a:p>
          <a:p>
            <a:pPr marL="170447" indent="-170447">
              <a:spcBef>
                <a:spcPts val="300"/>
              </a:spcBef>
              <a:buSzPct val="100000"/>
              <a:buChar char="•"/>
              <a:defRPr sz="1700">
                <a:latin typeface="Times New Roman"/>
                <a:ea typeface="Times New Roman"/>
                <a:cs typeface="Times New Roman"/>
                <a:sym typeface="Times New Roman"/>
              </a:defRPr>
            </a:pPr>
            <a:r>
              <a:t>The median price is around </a:t>
            </a:r>
            <a:r>
              <a:rPr b="1"/>
              <a:t>$620–650</a:t>
            </a:r>
            <a:r>
              <a:t> for all room types.</a:t>
            </a:r>
          </a:p>
          <a:p>
            <a:pPr marL="170447" indent="-170447">
              <a:spcBef>
                <a:spcPts val="300"/>
              </a:spcBef>
              <a:buSzPct val="100000"/>
              <a:buChar char="•"/>
              <a:defRPr sz="1700">
                <a:latin typeface="Times New Roman"/>
                <a:ea typeface="Times New Roman"/>
                <a:cs typeface="Times New Roman"/>
                <a:sym typeface="Times New Roman"/>
              </a:defRPr>
            </a:pPr>
            <a:r>
              <a:t>Surprisingly, </a:t>
            </a:r>
            <a:r>
              <a:rPr b="1"/>
              <a:t>Shared rooms</a:t>
            </a:r>
            <a:r>
              <a:t> have similar price ranges and medians as </a:t>
            </a:r>
            <a:r>
              <a:rPr b="1"/>
              <a:t>Private rooms</a:t>
            </a:r>
            <a:r>
              <a:t> and even </a:t>
            </a:r>
            <a:r>
              <a:rPr b="1"/>
              <a:t>Entire apartments</a:t>
            </a:r>
            <a:r>
              <a:t> — this could suggest pricing inconsistencies or anomalies in the dataset.</a:t>
            </a:r>
          </a:p>
        </p:txBody>
      </p:sp>
      <p:sp>
        <p:nvSpPr>
          <p:cNvPr id="138" name="TextBox 18"/>
          <p:cNvSpPr txBox="1"/>
          <p:nvPr/>
        </p:nvSpPr>
        <p:spPr>
          <a:xfrm>
            <a:off x="4381746" y="6112700"/>
            <a:ext cx="3428508" cy="77495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a:latin typeface="Canela Deck Regular"/>
                <a:ea typeface="Canela Deck Regular"/>
                <a:cs typeface="Canela Deck Regular"/>
                <a:sym typeface="Canela Deck Regular"/>
              </a:defRPr>
            </a:lvl1pPr>
          </a:lstStyle>
          <a:p>
            <a:pPr/>
            <a:r>
              <a:t>Thank you For Exploring!!</a:t>
            </a:r>
          </a:p>
        </p:txBody>
      </p:sp>
      <p:sp>
        <p:nvSpPr>
          <p:cNvPr id="139" name="TextBox 20"/>
          <p:cNvSpPr txBox="1"/>
          <p:nvPr/>
        </p:nvSpPr>
        <p:spPr>
          <a:xfrm>
            <a:off x="5253368" y="6473205"/>
            <a:ext cx="1685264" cy="370841"/>
          </a:xfrm>
          <a:prstGeom prst="rect">
            <a:avLst/>
          </a:prstGeom>
          <a:solidFill>
            <a:srgbClr val="000000"/>
          </a:solidFill>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a:solidFill>
                  <a:srgbClr val="FFFFFF"/>
                </a:solidFill>
              </a:defRPr>
            </a:lvl1pPr>
          </a:lstStyle>
          <a:p>
            <a:pPr/>
            <a:r>
              <a:t>Sign Out</a:t>
            </a:r>
          </a:p>
        </p:txBody>
      </p:sp>
      <p:pic>
        <p:nvPicPr>
          <p:cNvPr id="140" name="Screenshot 2026-02-06 at 19.42.15.png" descr="Screenshot 2026-02-06 at 19.42.15.png"/>
          <p:cNvPicPr>
            <a:picLocks noChangeAspect="1"/>
          </p:cNvPicPr>
          <p:nvPr/>
        </p:nvPicPr>
        <p:blipFill>
          <a:blip r:embed="rId5">
            <a:extLst/>
          </a:blip>
          <a:stretch>
            <a:fillRect/>
          </a:stretch>
        </p:blipFill>
        <p:spPr>
          <a:xfrm>
            <a:off x="-1" y="-3398"/>
            <a:ext cx="12192001" cy="1407887"/>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ptos"/>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